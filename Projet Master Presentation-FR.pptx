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 ABOU DIB" initials="KA" lastIdx="1" clrIdx="0">
    <p:extLst>
      <p:ext uri="{19B8F6BF-5375-455C-9EA6-DF929625EA0E}">
        <p15:presenceInfo xmlns:p15="http://schemas.microsoft.com/office/powerpoint/2012/main" userId="S::202010541@ua.edu.lb::3411dbaa-bd18-4db7-9efe-06d394cf5ca5" providerId="AD"/>
      </p:ext>
    </p:extLst>
  </p:cmAuthor>
  <p:cmAuthor id="2" name="Maria Achkar" initials="MA" lastIdx="1" clrIdx="1">
    <p:extLst>
      <p:ext uri="{19B8F6BF-5375-455C-9EA6-DF929625EA0E}">
        <p15:presenceInfo xmlns:p15="http://schemas.microsoft.com/office/powerpoint/2012/main" userId="048ffacf99cfd6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5F2"/>
    <a:srgbClr val="007BFF"/>
    <a:srgbClr val="2C5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9784A-9097-4DEC-8120-5A53FE6A82C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871F2-68CC-4F9C-9C04-74D0407D8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71F2-68CC-4F9C-9C04-74D0407D85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871F2-68CC-4F9C-9C04-74D0407D85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2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922" y="629656"/>
            <a:ext cx="6462930" cy="3866761"/>
          </a:xfrm>
        </p:spPr>
        <p:txBody>
          <a:bodyPr>
            <a:noAutofit/>
          </a:bodyPr>
          <a:lstStyle/>
          <a:p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Adaptive </a:t>
            </a:r>
            <a:br>
              <a:rPr lang="en-US" sz="7200" dirty="0">
                <a:solidFill>
                  <a:srgbClr val="002060"/>
                </a:solidFill>
                <a:latin typeface="Avenir Black" panose="020B0803020203020204" pitchFamily="34" charset="0"/>
              </a:rPr>
            </a:br>
            <a:r>
              <a:rPr sz="7200" dirty="0">
                <a:solidFill>
                  <a:srgbClr val="002060"/>
                </a:solidFill>
                <a:latin typeface="Avenir Black" panose="020B0803020203020204" pitchFamily="34" charset="0"/>
              </a:rPr>
              <a:t>ECG-Based Biometric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6CD41-8FEF-D432-62BA-41C49D4DF170}"/>
              </a:ext>
            </a:extLst>
          </p:cNvPr>
          <p:cNvSpPr txBox="1">
            <a:spLocks/>
          </p:cNvSpPr>
          <p:nvPr/>
        </p:nvSpPr>
        <p:spPr>
          <a:xfrm>
            <a:off x="5931854" y="4701918"/>
            <a:ext cx="6750205" cy="337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n>
                  <a:solidFill>
                    <a:srgbClr val="0070C0"/>
                  </a:solidFill>
                </a:ln>
                <a:solidFill>
                  <a:srgbClr val="00B0F0"/>
                </a:solidFill>
                <a:latin typeface="Avenir Heavy" panose="020B0703020203020204" pitchFamily="34" charset="0"/>
              </a:rPr>
              <a:t>Using a Wearable Device and Cloud Database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E0D9659-2186-4ADE-B5C8-F0B6EB16B7A3}"/>
              </a:ext>
            </a:extLst>
          </p:cNvPr>
          <p:cNvSpPr/>
          <p:nvPr/>
        </p:nvSpPr>
        <p:spPr>
          <a:xfrm>
            <a:off x="-583276" y="326967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C7981B12-ABF2-4A5A-9035-F4C4A3334550}"/>
              </a:ext>
            </a:extLst>
          </p:cNvPr>
          <p:cNvSpPr/>
          <p:nvPr/>
        </p:nvSpPr>
        <p:spPr>
          <a:xfrm>
            <a:off x="-583276" y="1923010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B9F182D2-D973-4E09-96EB-24996792E8F3}"/>
              </a:ext>
            </a:extLst>
          </p:cNvPr>
          <p:cNvSpPr/>
          <p:nvPr/>
        </p:nvSpPr>
        <p:spPr>
          <a:xfrm>
            <a:off x="-583276" y="3519053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4802629-D171-4C8F-B16C-E66A61B40758}"/>
              </a:ext>
            </a:extLst>
          </p:cNvPr>
          <p:cNvSpPr/>
          <p:nvPr/>
        </p:nvSpPr>
        <p:spPr>
          <a:xfrm>
            <a:off x="-583276" y="5115096"/>
            <a:ext cx="1166552" cy="1249680"/>
          </a:xfrm>
          <a:prstGeom prst="diamond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557B705-1823-436E-ADDE-CABC79B0C080}"/>
              </a:ext>
            </a:extLst>
          </p:cNvPr>
          <p:cNvSpPr/>
          <p:nvPr/>
        </p:nvSpPr>
        <p:spPr>
          <a:xfrm>
            <a:off x="292331" y="112498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AEF3263-D0D3-4C0B-9473-7C3CCE24B0DA}"/>
              </a:ext>
            </a:extLst>
          </p:cNvPr>
          <p:cNvSpPr/>
          <p:nvPr/>
        </p:nvSpPr>
        <p:spPr>
          <a:xfrm>
            <a:off x="292331" y="-412866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5F390C0-944E-450E-A882-0CA9C21546AA}"/>
              </a:ext>
            </a:extLst>
          </p:cNvPr>
          <p:cNvSpPr/>
          <p:nvPr/>
        </p:nvSpPr>
        <p:spPr>
          <a:xfrm>
            <a:off x="292331" y="2662844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BECB1407-DE8E-4742-BD57-1B49A2954A52}"/>
              </a:ext>
            </a:extLst>
          </p:cNvPr>
          <p:cNvSpPr/>
          <p:nvPr/>
        </p:nvSpPr>
        <p:spPr>
          <a:xfrm>
            <a:off x="292331" y="4200699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FB473C37-6498-4945-A125-1EBE73FD69FB}"/>
              </a:ext>
            </a:extLst>
          </p:cNvPr>
          <p:cNvSpPr/>
          <p:nvPr/>
        </p:nvSpPr>
        <p:spPr>
          <a:xfrm>
            <a:off x="292331" y="5733011"/>
            <a:ext cx="1166552" cy="1249680"/>
          </a:xfrm>
          <a:prstGeom prst="diamond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DC60F15E-9D04-477A-BDA4-09D91F9EBF16}"/>
              </a:ext>
            </a:extLst>
          </p:cNvPr>
          <p:cNvSpPr/>
          <p:nvPr/>
        </p:nvSpPr>
        <p:spPr>
          <a:xfrm>
            <a:off x="1103919" y="326967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4C61E590-F47D-4082-9562-4537418A44F3}"/>
              </a:ext>
            </a:extLst>
          </p:cNvPr>
          <p:cNvSpPr/>
          <p:nvPr/>
        </p:nvSpPr>
        <p:spPr>
          <a:xfrm>
            <a:off x="1103919" y="1891145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82245ECA-F619-41A7-B34C-E880509AEC5F}"/>
              </a:ext>
            </a:extLst>
          </p:cNvPr>
          <p:cNvSpPr/>
          <p:nvPr/>
        </p:nvSpPr>
        <p:spPr>
          <a:xfrm>
            <a:off x="1103919" y="3426230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0B8E9328-4077-44BB-B836-73B9C891740C}"/>
              </a:ext>
            </a:extLst>
          </p:cNvPr>
          <p:cNvSpPr/>
          <p:nvPr/>
        </p:nvSpPr>
        <p:spPr>
          <a:xfrm>
            <a:off x="1081752" y="4955772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97E4E59E-3758-4AC6-9C76-B34FE03F4A8A}"/>
              </a:ext>
            </a:extLst>
          </p:cNvPr>
          <p:cNvSpPr/>
          <p:nvPr/>
        </p:nvSpPr>
        <p:spPr>
          <a:xfrm>
            <a:off x="1103919" y="6485314"/>
            <a:ext cx="1166552" cy="1249680"/>
          </a:xfrm>
          <a:prstGeom prst="diamond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BA17D5A-1535-47CC-A600-CB8BAD07F7BD}"/>
              </a:ext>
            </a:extLst>
          </p:cNvPr>
          <p:cNvSpPr/>
          <p:nvPr/>
        </p:nvSpPr>
        <p:spPr>
          <a:xfrm>
            <a:off x="1979526" y="1270807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F58F3AE2-EB65-4898-9526-C9A57178C3D2}"/>
              </a:ext>
            </a:extLst>
          </p:cNvPr>
          <p:cNvSpPr/>
          <p:nvPr/>
        </p:nvSpPr>
        <p:spPr>
          <a:xfrm>
            <a:off x="1979526" y="281281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5F1ABCF-F8DB-46A9-8D1D-903F7EC2E2C3}"/>
              </a:ext>
            </a:extLst>
          </p:cNvPr>
          <p:cNvSpPr/>
          <p:nvPr/>
        </p:nvSpPr>
        <p:spPr>
          <a:xfrm>
            <a:off x="1979526" y="4354829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4C0E0BB5-7678-440D-AFCC-FE2337E65864}"/>
              </a:ext>
            </a:extLst>
          </p:cNvPr>
          <p:cNvSpPr/>
          <p:nvPr/>
        </p:nvSpPr>
        <p:spPr>
          <a:xfrm>
            <a:off x="1979525" y="5693328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1F9B3D74-B02B-4477-A8CF-8CD180713E41}"/>
              </a:ext>
            </a:extLst>
          </p:cNvPr>
          <p:cNvSpPr/>
          <p:nvPr/>
        </p:nvSpPr>
        <p:spPr>
          <a:xfrm>
            <a:off x="1979526" y="-259772"/>
            <a:ext cx="885593" cy="955272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E149CF9A-11DB-4248-B106-9FD50C058E42}"/>
              </a:ext>
            </a:extLst>
          </p:cNvPr>
          <p:cNvSpPr/>
          <p:nvPr/>
        </p:nvSpPr>
        <p:spPr>
          <a:xfrm>
            <a:off x="2566409" y="69942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711D0E0D-396A-4193-9289-680D2DDE0EBA}"/>
              </a:ext>
            </a:extLst>
          </p:cNvPr>
          <p:cNvSpPr/>
          <p:nvPr/>
        </p:nvSpPr>
        <p:spPr>
          <a:xfrm>
            <a:off x="2566409" y="2221673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29557DD6-52F3-49F6-91A5-FC9E565B263A}"/>
              </a:ext>
            </a:extLst>
          </p:cNvPr>
          <p:cNvSpPr/>
          <p:nvPr/>
        </p:nvSpPr>
        <p:spPr>
          <a:xfrm>
            <a:off x="2573598" y="3670810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F333DE12-91B1-4661-97D2-145E2EF54C16}"/>
              </a:ext>
            </a:extLst>
          </p:cNvPr>
          <p:cNvSpPr/>
          <p:nvPr/>
        </p:nvSpPr>
        <p:spPr>
          <a:xfrm>
            <a:off x="2566408" y="5257309"/>
            <a:ext cx="597419" cy="5733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456D72D9-B070-4D18-B936-0C8DBFE47D73}"/>
              </a:ext>
            </a:extLst>
          </p:cNvPr>
          <p:cNvSpPr/>
          <p:nvPr/>
        </p:nvSpPr>
        <p:spPr>
          <a:xfrm>
            <a:off x="3017518" y="152298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7C96C9BC-32FD-45A5-9735-81DB2430AFBD}"/>
              </a:ext>
            </a:extLst>
          </p:cNvPr>
          <p:cNvSpPr/>
          <p:nvPr/>
        </p:nvSpPr>
        <p:spPr>
          <a:xfrm>
            <a:off x="3030770" y="3053145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B1D27E6C-54F2-4902-AE73-BC0CE97CB34B}"/>
              </a:ext>
            </a:extLst>
          </p:cNvPr>
          <p:cNvSpPr/>
          <p:nvPr/>
        </p:nvSpPr>
        <p:spPr>
          <a:xfrm>
            <a:off x="3015853" y="464126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F7DEF5B1-52E1-40C6-BF62-2342471647DB}"/>
              </a:ext>
            </a:extLst>
          </p:cNvPr>
          <p:cNvSpPr/>
          <p:nvPr/>
        </p:nvSpPr>
        <p:spPr>
          <a:xfrm>
            <a:off x="3030770" y="71487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859B3FCF-895F-440B-88BD-42A353102652}"/>
              </a:ext>
            </a:extLst>
          </p:cNvPr>
          <p:cNvSpPr/>
          <p:nvPr/>
        </p:nvSpPr>
        <p:spPr>
          <a:xfrm>
            <a:off x="3018822" y="5943029"/>
            <a:ext cx="345501" cy="397895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7090296-0BD7-4DA1-BA7F-DBC3DBA1A1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791" b="74288" l="25920" r="76968">
                        <a14:foregroundMark x1="43359" y1="38316" x2="46875" y2="57684"/>
                      </a14:backgroundRemoval>
                    </a14:imgEffect>
                  </a14:imgLayer>
                </a14:imgProps>
              </a:ext>
            </a:extLst>
          </a:blip>
          <a:srcRect l="19539" t="17479" r="16651" b="19400"/>
          <a:stretch/>
        </p:blipFill>
        <p:spPr>
          <a:xfrm>
            <a:off x="8972120" y="117861"/>
            <a:ext cx="1088472" cy="826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A0C14CA6-69AE-4F7B-8403-95E0EF8D9392}"/>
              </a:ext>
            </a:extLst>
          </p:cNvPr>
          <p:cNvSpPr/>
          <p:nvPr/>
        </p:nvSpPr>
        <p:spPr>
          <a:xfrm>
            <a:off x="9585368" y="6011235"/>
            <a:ext cx="2664141" cy="8970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686B85-71A8-4D41-8760-08188AD44252}"/>
              </a:ext>
            </a:extLst>
          </p:cNvPr>
          <p:cNvSpPr/>
          <p:nvPr/>
        </p:nvSpPr>
        <p:spPr>
          <a:xfrm>
            <a:off x="7976558" y="5244665"/>
            <a:ext cx="2808305" cy="872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65596B-46FD-45BE-B44F-6D811EB6727A}"/>
              </a:ext>
            </a:extLst>
          </p:cNvPr>
          <p:cNvSpPr txBox="1"/>
          <p:nvPr/>
        </p:nvSpPr>
        <p:spPr>
          <a:xfrm>
            <a:off x="9566768" y="278225"/>
            <a:ext cx="25562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Université </a:t>
            </a:r>
            <a:r>
              <a:rPr lang="en-US" sz="2000" dirty="0" err="1">
                <a:solidFill>
                  <a:srgbClr val="2C5DAB"/>
                </a:solidFill>
                <a:latin typeface="Avenir Heavy" panose="020B0703020203020204" pitchFamily="34" charset="0"/>
              </a:rPr>
              <a:t>Catholique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de Lille</a:t>
            </a:r>
            <a:endParaRPr 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556871-A4E6-446E-B0DE-CDB7DB7BBADF}"/>
              </a:ext>
            </a:extLst>
          </p:cNvPr>
          <p:cNvSpPr txBox="1"/>
          <p:nvPr/>
        </p:nvSpPr>
        <p:spPr>
          <a:xfrm>
            <a:off x="6053790" y="5425120"/>
            <a:ext cx="665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DAB"/>
                </a:solidFill>
                <a:latin typeface="Avenir Heavy" panose="020B0703020203020204" pitchFamily="34" charset="0"/>
              </a:rPr>
              <a:t>Michel </a:t>
            </a:r>
            <a:r>
              <a:rPr lang="en-US" sz="2000" b="1" dirty="0" err="1">
                <a:solidFill>
                  <a:srgbClr val="2C5DAB"/>
                </a:solidFill>
                <a:latin typeface="Avenir Heavy" panose="020B0703020203020204" pitchFamily="34" charset="0"/>
              </a:rPr>
              <a:t>Rizkallah</a:t>
            </a:r>
            <a:endParaRPr lang="en-US" sz="2000" b="1" dirty="0">
              <a:solidFill>
                <a:srgbClr val="2C5DAB"/>
              </a:solidFill>
              <a:latin typeface="Avenir Heavy" panose="020B0703020203020204" pitchFamily="34" charset="0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65FBA8D-202B-426F-AC44-51FF8055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120" y="6298010"/>
            <a:ext cx="3925389" cy="1026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M</a:t>
            </a:r>
            <a:r>
              <a:rPr lang="en-US" sz="2000" dirty="0">
                <a:solidFill>
                  <a:srgbClr val="2C5DAB"/>
                </a:solidFill>
                <a:latin typeface="Avenir Heavy" panose="020B0703020203020204" pitchFamily="34" charset="0"/>
              </a:rPr>
              <a:t>2</a:t>
            </a:r>
            <a:r>
              <a:rPr sz="2000" dirty="0">
                <a:solidFill>
                  <a:srgbClr val="2C5DAB"/>
                </a:solidFill>
                <a:latin typeface="Avenir Heavy" panose="020B0703020203020204" pitchFamily="34" charset="0"/>
              </a:rPr>
              <a:t> Cyber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8355991" y="3993726"/>
            <a:ext cx="6315893" cy="1069973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Contexte</a:t>
            </a:r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 et </a:t>
            </a:r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problème</a:t>
            </a:r>
            <a:endParaRPr sz="3200" b="1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41" y="1454421"/>
            <a:ext cx="9850244" cy="224697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L'authentification traditionnelle (mots de passe, codes PIN) est vulnérable aux attaques.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La biométrie offre une vérification d'identité plus robuste.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Les signaux ECG constituent une biométrie physiologique interne, difficile à falsifier.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Les systèmes d'authentification ECG existants, basés sur les réseaux de neurones convolutifs (CNN), présentent encore des limitations en termes de performance et de complexité.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Il est nécessaire de disposer de systèmes robustes face à la dérive physiologique et à la variabilité </a:t>
            </a:r>
            <a:r>
              <a:rPr lang="fr-FR" sz="2000" dirty="0" err="1">
                <a:latin typeface="Avenir Light" panose="020B0402020203020204" pitchFamily="34" charset="0"/>
              </a:rPr>
              <a:t>inter-sessions</a:t>
            </a:r>
            <a:r>
              <a:rPr lang="fr-FR" sz="2000" dirty="0">
                <a:latin typeface="Avenir Light" panose="020B0402020203020204" pitchFamily="34" charset="0"/>
              </a:rPr>
              <a:t>.</a:t>
            </a:r>
            <a:endParaRPr sz="2000" dirty="0">
              <a:latin typeface="Avenir Light" panose="020B0402020203020204" pitchFamily="34" charset="0"/>
            </a:endParaRPr>
          </a:p>
        </p:txBody>
      </p:sp>
      <p:sp>
        <p:nvSpPr>
          <p:cNvPr id="4" name="Google Shape;138;p27">
            <a:extLst>
              <a:ext uri="{FF2B5EF4-FFF2-40B4-BE49-F238E27FC236}">
                <a16:creationId xmlns:a16="http://schemas.microsoft.com/office/drawing/2014/main" id="{2544CA8B-F294-1EE6-447E-D80FF71E97B4}"/>
              </a:ext>
            </a:extLst>
          </p:cNvPr>
          <p:cNvSpPr/>
          <p:nvPr/>
        </p:nvSpPr>
        <p:spPr>
          <a:xfrm rot="16200000" flipH="1">
            <a:off x="742627" y="-742578"/>
            <a:ext cx="1280163" cy="276531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5E7E3230-FFBF-34E4-32E7-B18F38B00B12}"/>
              </a:ext>
            </a:extLst>
          </p:cNvPr>
          <p:cNvSpPr/>
          <p:nvPr/>
        </p:nvSpPr>
        <p:spPr>
          <a:xfrm rot="16200000" flipH="1">
            <a:off x="10070875" y="4698077"/>
            <a:ext cx="545867" cy="3773979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 descr="Detection of Characteristic Points of ECG Signal | Semantic Scholar">
            <a:extLst>
              <a:ext uri="{FF2B5EF4-FFF2-40B4-BE49-F238E27FC236}">
                <a16:creationId xmlns:a16="http://schemas.microsoft.com/office/drawing/2014/main" id="{B6A7F795-86A7-02C4-F6BE-7431EBC40F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9"/>
          <a:stretch>
            <a:fillRect/>
          </a:stretch>
        </p:blipFill>
        <p:spPr bwMode="auto">
          <a:xfrm>
            <a:off x="3875241" y="3965449"/>
            <a:ext cx="4031923" cy="27134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B6CCED9-A244-4087-BA10-6A0E5ABFAD4F}"/>
              </a:ext>
            </a:extLst>
          </p:cNvPr>
          <p:cNvSpPr/>
          <p:nvPr/>
        </p:nvSpPr>
        <p:spPr>
          <a:xfrm rot="16200000" flipH="1">
            <a:off x="10889073" y="-364842"/>
            <a:ext cx="1196828" cy="140893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849355"/>
            <a:ext cx="10972800" cy="685802"/>
          </a:xfrm>
        </p:spPr>
        <p:txBody>
          <a:bodyPr>
            <a:normAutofit/>
          </a:bodyPr>
          <a:lstStyle/>
          <a:p>
            <a:pPr algn="l"/>
            <a:r>
              <a:rPr lang="fr-FR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Objectifs et défis de la recherche</a:t>
            </a:r>
            <a:endParaRPr sz="3200" b="1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114" y="2434650"/>
            <a:ext cx="10972800" cy="15560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800" dirty="0">
                <a:latin typeface="Avenir" panose="020B0503020203020204" pitchFamily="34" charset="0"/>
              </a:rPr>
              <a:t>Les performances des systèmes d'authentification ECG diminuent avec le temps en raison des facteurs suivants :</a:t>
            </a:r>
          </a:p>
          <a:p>
            <a:r>
              <a:rPr lang="fr-FR" sz="1800" dirty="0">
                <a:latin typeface="Avenir" panose="020B0503020203020204" pitchFamily="34" charset="0"/>
              </a:rPr>
              <a:t>Les approches existantes basées sur les réseaux de neurones convolutifs (CNN) présentent également des performances limitées sur les données ECG issues de dispositifs portables.</a:t>
            </a:r>
          </a:p>
          <a:p>
            <a:r>
              <a:rPr lang="fr-FR" sz="1800" dirty="0">
                <a:latin typeface="Avenir" panose="020B0503020203020204" pitchFamily="34" charset="0"/>
              </a:rPr>
              <a:t>Variabilité intra-individuelle</a:t>
            </a:r>
          </a:p>
          <a:p>
            <a:r>
              <a:rPr lang="fr-FR" sz="1800" dirty="0">
                <a:latin typeface="Avenir" panose="020B0503020203020204" pitchFamily="34" charset="0"/>
              </a:rPr>
              <a:t>Dérive physiologique</a:t>
            </a:r>
          </a:p>
          <a:p>
            <a:r>
              <a:rPr lang="fr-FR" sz="1800" dirty="0">
                <a:latin typeface="Avenir" panose="020B0503020203020204" pitchFamily="34" charset="0"/>
              </a:rPr>
              <a:t>Conditions d'acquisition non optimales des dispositifs portables</a:t>
            </a:r>
            <a:endParaRPr sz="1800" dirty="0">
              <a:latin typeface="Avenir Heavy" panose="020B0703020203020204" pitchFamily="34" charset="0"/>
            </a:endParaRPr>
          </a:p>
        </p:txBody>
      </p:sp>
      <p:sp>
        <p:nvSpPr>
          <p:cNvPr id="4" name="Google Shape;171;p29">
            <a:extLst>
              <a:ext uri="{FF2B5EF4-FFF2-40B4-BE49-F238E27FC236}">
                <a16:creationId xmlns:a16="http://schemas.microsoft.com/office/drawing/2014/main" id="{813FF386-4388-3809-7A19-70A83FFF1705}"/>
              </a:ext>
            </a:extLst>
          </p:cNvPr>
          <p:cNvSpPr/>
          <p:nvPr/>
        </p:nvSpPr>
        <p:spPr>
          <a:xfrm>
            <a:off x="0" y="2353006"/>
            <a:ext cx="594360" cy="1512028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394A2-18B5-4DCC-9477-9DCF7BC61459}"/>
              </a:ext>
            </a:extLst>
          </p:cNvPr>
          <p:cNvSpPr txBox="1"/>
          <p:nvPr/>
        </p:nvSpPr>
        <p:spPr>
          <a:xfrm>
            <a:off x="1132114" y="4502886"/>
            <a:ext cx="9388199" cy="143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venir Heavy" panose="020B0703020203020204" pitchFamily="34" charset="0"/>
              </a:rPr>
              <a:t>Question de recherche :</a:t>
            </a:r>
          </a:p>
          <a:p>
            <a:pPr>
              <a:lnSpc>
                <a:spcPct val="150000"/>
              </a:lnSpc>
            </a:pPr>
            <a:r>
              <a:rPr lang="fr-FR" dirty="0"/>
              <a:t>Comment améliorer l'authentification biométrique basée sur l'ECG au-delà des modèles CNN tout en maintenant sa fiabilité malgré les changements physiologiques à long terme ?</a:t>
            </a:r>
            <a:endParaRPr lang="en-US" sz="1800" dirty="0">
              <a:latin typeface="Avenir Light" panose="020B0402020203020204" pitchFamily="34" charset="0"/>
            </a:endParaRPr>
          </a:p>
        </p:txBody>
      </p:sp>
      <p:sp>
        <p:nvSpPr>
          <p:cNvPr id="7" name="Google Shape;171;p29">
            <a:extLst>
              <a:ext uri="{FF2B5EF4-FFF2-40B4-BE49-F238E27FC236}">
                <a16:creationId xmlns:a16="http://schemas.microsoft.com/office/drawing/2014/main" id="{C54C79E1-717E-49EE-BCCC-6E6F1280DE22}"/>
              </a:ext>
            </a:extLst>
          </p:cNvPr>
          <p:cNvSpPr/>
          <p:nvPr/>
        </p:nvSpPr>
        <p:spPr>
          <a:xfrm>
            <a:off x="0" y="4504994"/>
            <a:ext cx="594360" cy="1430383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9;p27">
            <a:extLst>
              <a:ext uri="{FF2B5EF4-FFF2-40B4-BE49-F238E27FC236}">
                <a16:creationId xmlns:a16="http://schemas.microsoft.com/office/drawing/2014/main" id="{34E62222-D02D-41B5-9F1A-14B2CE93084D}"/>
              </a:ext>
            </a:extLst>
          </p:cNvPr>
          <p:cNvSpPr/>
          <p:nvPr/>
        </p:nvSpPr>
        <p:spPr>
          <a:xfrm rot="16200000" flipH="1">
            <a:off x="-112033" y="961387"/>
            <a:ext cx="818422" cy="5943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C96A472B-0762-5BF0-2034-0516AE16DBC6}"/>
              </a:ext>
            </a:extLst>
          </p:cNvPr>
          <p:cNvSpPr/>
          <p:nvPr/>
        </p:nvSpPr>
        <p:spPr>
          <a:xfrm>
            <a:off x="-1" y="3205977"/>
            <a:ext cx="7215001" cy="365202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AD7FC5D9-3AE3-3E52-C51B-EED10D1ADD17}"/>
              </a:ext>
            </a:extLst>
          </p:cNvPr>
          <p:cNvSpPr/>
          <p:nvPr/>
        </p:nvSpPr>
        <p:spPr>
          <a:xfrm rot="10800000" flipH="1">
            <a:off x="-2" y="2971800"/>
            <a:ext cx="7215002" cy="299799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4" y="3586401"/>
            <a:ext cx="8092442" cy="2806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solidFill>
                  <a:schemeClr val="bg1"/>
                </a:solidFill>
                <a:latin typeface="Avenir Heavy" panose="020B0703020203020204" pitchFamily="34" charset="0"/>
              </a:rPr>
              <a:t>Sources de données :</a:t>
            </a:r>
          </a:p>
          <a:p>
            <a:r>
              <a:rPr lang="fr-FR" sz="2000" dirty="0">
                <a:solidFill>
                  <a:schemeClr val="bg1"/>
                </a:solidFill>
                <a:latin typeface="Avenir Heavy" panose="020B0703020203020204" pitchFamily="34" charset="0"/>
              </a:rPr>
              <a:t>Ensemble de données ECG-ID (référence </a:t>
            </a:r>
            <a:r>
              <a:rPr lang="fr-FR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PhysioNet</a:t>
            </a:r>
            <a:r>
              <a:rPr lang="fr-FR" sz="20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r>
              <a:rPr lang="fr-FR" sz="2000" dirty="0">
                <a:solidFill>
                  <a:schemeClr val="bg1"/>
                </a:solidFill>
                <a:latin typeface="Avenir Heavy" panose="020B0703020203020204" pitchFamily="34" charset="0"/>
              </a:rPr>
              <a:t>ECG du bracelet connecté </a:t>
            </a:r>
            <a:r>
              <a:rPr lang="fr-FR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Fitbit</a:t>
            </a:r>
            <a:r>
              <a:rPr lang="fr-FR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Charge 6</a:t>
            </a:r>
            <a:endParaRPr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Pipeline:</a:t>
            </a:r>
          </a:p>
          <a:p>
            <a:pPr marL="0" indent="0">
              <a:buNone/>
            </a:pPr>
            <a:r>
              <a:rPr sz="1800" dirty="0">
                <a:solidFill>
                  <a:schemeClr val="bg1"/>
                </a:solidFill>
                <a:latin typeface="Avenir" panose="020B0503020203020204" pitchFamily="34" charset="0"/>
              </a:rPr>
              <a:t>Import → Preprocessing → Feature Extraction → ML Model → Monitoring</a:t>
            </a:r>
            <a:endParaRPr sz="2000" dirty="0">
              <a:solidFill>
                <a:schemeClr val="bg1"/>
              </a:solidFill>
              <a:latin typeface="Avenir" panose="020B0503020203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2D7515-8DE4-ECC0-0E35-B1F7D4221B8B}"/>
              </a:ext>
            </a:extLst>
          </p:cNvPr>
          <p:cNvSpPr txBox="1">
            <a:spLocks/>
          </p:cNvSpPr>
          <p:nvPr/>
        </p:nvSpPr>
        <p:spPr>
          <a:xfrm>
            <a:off x="1100702" y="1203275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Architecture du </a:t>
            </a:r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système</a:t>
            </a:r>
            <a:endParaRPr lang="en-US" sz="3200" b="1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1FE416-F49D-C37C-884D-AF45FF59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188" y="257062"/>
            <a:ext cx="2795450" cy="6448377"/>
          </a:xfrm>
          <a:prstGeom prst="rect">
            <a:avLst/>
          </a:prstGeom>
        </p:spPr>
      </p:pic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08529694-6D0B-46EE-B16C-1735734F2F81}"/>
              </a:ext>
            </a:extLst>
          </p:cNvPr>
          <p:cNvSpPr/>
          <p:nvPr/>
        </p:nvSpPr>
        <p:spPr>
          <a:xfrm rot="16200000" flipH="1">
            <a:off x="-93629" y="1153279"/>
            <a:ext cx="835656" cy="6483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F21A-67E7-0541-8DDF-C918BAE8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F90EE601-F7F2-9ADD-5083-CB8C58537F7B}"/>
              </a:ext>
            </a:extLst>
          </p:cNvPr>
          <p:cNvSpPr/>
          <p:nvPr/>
        </p:nvSpPr>
        <p:spPr>
          <a:xfrm rot="10800000" flipH="1">
            <a:off x="-2" y="3064299"/>
            <a:ext cx="10228083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4A883535-14FC-87ED-695F-CF08B82A6444}"/>
              </a:ext>
            </a:extLst>
          </p:cNvPr>
          <p:cNvSpPr/>
          <p:nvPr/>
        </p:nvSpPr>
        <p:spPr>
          <a:xfrm>
            <a:off x="-1" y="3271617"/>
            <a:ext cx="10228083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ow to Use TypeScript with React ...">
            <a:extLst>
              <a:ext uri="{FF2B5EF4-FFF2-40B4-BE49-F238E27FC236}">
                <a16:creationId xmlns:a16="http://schemas.microsoft.com/office/drawing/2014/main" id="{70C3EC2B-AAEB-D233-F4B5-DA6B54450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144" y="1321175"/>
            <a:ext cx="5184856" cy="2330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A191-B8DD-84A4-F72B-79D69002C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3911043"/>
            <a:ext cx="6335927" cy="23082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Framework: React 19 + TypeScript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Build tool: Vite 7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State &amp; Data fetching: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TanStack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React Query + Axios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Charts/Visualization: Recharts</a:t>
            </a:r>
          </a:p>
          <a:p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Main UI modules: Enrollment Wizard, Verification Panel, Analytics Tab, Continuous Monitor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267F7-0D6E-134D-1E55-F7F45DAEBA18}"/>
              </a:ext>
            </a:extLst>
          </p:cNvPr>
          <p:cNvSpPr txBox="1">
            <a:spLocks/>
          </p:cNvSpPr>
          <p:nvPr/>
        </p:nvSpPr>
        <p:spPr>
          <a:xfrm>
            <a:off x="1301703" y="1160661"/>
            <a:ext cx="4098803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 w="0"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Frontend Tech (UI)</a:t>
            </a:r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D7A29DCA-DE9B-4B12-9C9F-8C1088E807B2}"/>
              </a:ext>
            </a:extLst>
          </p:cNvPr>
          <p:cNvSpPr/>
          <p:nvPr/>
        </p:nvSpPr>
        <p:spPr>
          <a:xfrm rot="16200000" flipH="1">
            <a:off x="-181155" y="1118558"/>
            <a:ext cx="994915" cy="6326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01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20BA-B1DF-42D6-EB75-6ACFDF22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74C56247-3771-E07F-F207-6137B3D5CE50}"/>
              </a:ext>
            </a:extLst>
          </p:cNvPr>
          <p:cNvSpPr/>
          <p:nvPr/>
        </p:nvSpPr>
        <p:spPr>
          <a:xfrm>
            <a:off x="-1" y="3271617"/>
            <a:ext cx="5527760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CE29820-2243-4793-9109-89ECAA580BBF}"/>
              </a:ext>
            </a:extLst>
          </p:cNvPr>
          <p:cNvSpPr/>
          <p:nvPr/>
        </p:nvSpPr>
        <p:spPr>
          <a:xfrm rot="10800000" flipH="1">
            <a:off x="-2" y="3115491"/>
            <a:ext cx="5527760" cy="156108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D85D-7802-C869-EB00-E5EEBAD2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3" y="3380415"/>
            <a:ext cx="5527760" cy="32617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Platform: ASP.NET Core Web API (.NET 9)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Architecture: Controllers + Services + Middleware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Auth/Integration: Fitbit OAuth middleware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FitbitAuthMiddleware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Data layer: Google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Google.Cloud.Firestore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2536B3-87F3-BB1A-F86D-DC16420D124A}"/>
              </a:ext>
            </a:extLst>
          </p:cNvPr>
          <p:cNvSpPr txBox="1">
            <a:spLocks/>
          </p:cNvSpPr>
          <p:nvPr/>
        </p:nvSpPr>
        <p:spPr>
          <a:xfrm>
            <a:off x="748463" y="1416442"/>
            <a:ext cx="4365576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Backend Tech (</a:t>
            </a:r>
            <a:r>
              <a:rPr lang="en-US" sz="3200" b="1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FitServer</a:t>
            </a:r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)</a:t>
            </a:r>
          </a:p>
        </p:txBody>
      </p:sp>
      <p:sp>
        <p:nvSpPr>
          <p:cNvPr id="9" name="Google Shape;195;p31">
            <a:extLst>
              <a:ext uri="{FF2B5EF4-FFF2-40B4-BE49-F238E27FC236}">
                <a16:creationId xmlns:a16="http://schemas.microsoft.com/office/drawing/2014/main" id="{4CD6221C-5FFF-414D-A702-699C97AA7D05}"/>
              </a:ext>
            </a:extLst>
          </p:cNvPr>
          <p:cNvSpPr/>
          <p:nvPr/>
        </p:nvSpPr>
        <p:spPr>
          <a:xfrm>
            <a:off x="6527079" y="3271600"/>
            <a:ext cx="5664920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EBE50-FD8E-4425-BEF1-3791AC537792}"/>
              </a:ext>
            </a:extLst>
          </p:cNvPr>
          <p:cNvSpPr txBox="1"/>
          <p:nvPr/>
        </p:nvSpPr>
        <p:spPr>
          <a:xfrm>
            <a:off x="6690357" y="3399051"/>
            <a:ext cx="5553894" cy="311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Cloud/Admin: Firebase Admin SDK</a:t>
            </a: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ML stack: ML.NET (Microsoft.ML,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FastTree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,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LightGBM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) + ONNX Runtime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MathNet.Numerics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API docs: Swagger /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OpenAPI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pPr marL="252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Core capabilities: ECG enrollment, training, verification, continuous verification, adaptive retraining</a:t>
            </a:r>
          </a:p>
        </p:txBody>
      </p:sp>
      <p:sp>
        <p:nvSpPr>
          <p:cNvPr id="10" name="Google Shape;202;p31">
            <a:extLst>
              <a:ext uri="{FF2B5EF4-FFF2-40B4-BE49-F238E27FC236}">
                <a16:creationId xmlns:a16="http://schemas.microsoft.com/office/drawing/2014/main" id="{6F46B8C4-F98F-4F5C-AE33-3C992A3CFEFD}"/>
              </a:ext>
            </a:extLst>
          </p:cNvPr>
          <p:cNvSpPr/>
          <p:nvPr/>
        </p:nvSpPr>
        <p:spPr>
          <a:xfrm rot="10800000" flipH="1">
            <a:off x="6527078" y="3115490"/>
            <a:ext cx="5664921" cy="156107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FDA0AD-AE22-4353-9735-644897689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352" y="240870"/>
            <a:ext cx="5026428" cy="2688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6451114F-6E5D-4F4D-A71F-D600749E0809}"/>
              </a:ext>
            </a:extLst>
          </p:cNvPr>
          <p:cNvSpPr/>
          <p:nvPr/>
        </p:nvSpPr>
        <p:spPr>
          <a:xfrm rot="16200000" flipH="1">
            <a:off x="-271694" y="1474267"/>
            <a:ext cx="1086483" cy="54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15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6264D-67CC-5880-8F2F-7F1B655F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5;p31">
            <a:extLst>
              <a:ext uri="{FF2B5EF4-FFF2-40B4-BE49-F238E27FC236}">
                <a16:creationId xmlns:a16="http://schemas.microsoft.com/office/drawing/2014/main" id="{85AFE374-301B-0230-2BA6-9950D3E05FE9}"/>
              </a:ext>
            </a:extLst>
          </p:cNvPr>
          <p:cNvSpPr/>
          <p:nvPr/>
        </p:nvSpPr>
        <p:spPr>
          <a:xfrm>
            <a:off x="-1" y="3271617"/>
            <a:ext cx="5990734" cy="358638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02;p31">
            <a:extLst>
              <a:ext uri="{FF2B5EF4-FFF2-40B4-BE49-F238E27FC236}">
                <a16:creationId xmlns:a16="http://schemas.microsoft.com/office/drawing/2014/main" id="{5BB095E3-3E9E-04E1-EC17-34105F530062}"/>
              </a:ext>
            </a:extLst>
          </p:cNvPr>
          <p:cNvSpPr/>
          <p:nvPr/>
        </p:nvSpPr>
        <p:spPr>
          <a:xfrm rot="10800000" flipH="1">
            <a:off x="-1" y="3064299"/>
            <a:ext cx="5990734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D905-EA66-69C8-771C-F5E1A13BE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73" y="3580813"/>
            <a:ext cx="5329286" cy="2967990"/>
          </a:xfrm>
        </p:spPr>
        <p:txBody>
          <a:bodyPr>
            <a:noAutofit/>
          </a:bodyPr>
          <a:lstStyle/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tests: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xUnit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Microsoft.AspNetCore.Mvc.Testing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+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WebApplicationFactory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coverage: Coverlet (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Cobertura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report)</a:t>
            </a: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Backend command: dotnet test Tests/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/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FitServer.Tests.csproj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Test scope: unit tests (signal processing/ML rules/services) + integration tests (controllers/endpoints + auth/error/happy paths)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1FCEE1-209B-5A45-43EE-7130EC649BB1}"/>
              </a:ext>
            </a:extLst>
          </p:cNvPr>
          <p:cNvSpPr txBox="1">
            <a:spLocks/>
          </p:cNvSpPr>
          <p:nvPr/>
        </p:nvSpPr>
        <p:spPr>
          <a:xfrm>
            <a:off x="714410" y="593392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Tests (Frontend + Backend)</a:t>
            </a:r>
          </a:p>
        </p:txBody>
      </p:sp>
      <p:sp>
        <p:nvSpPr>
          <p:cNvPr id="2" name="Google Shape;195;p31">
            <a:extLst>
              <a:ext uri="{FF2B5EF4-FFF2-40B4-BE49-F238E27FC236}">
                <a16:creationId xmlns:a16="http://schemas.microsoft.com/office/drawing/2014/main" id="{47169F85-5B93-B7EA-8729-5DABE765F15A}"/>
              </a:ext>
            </a:extLst>
          </p:cNvPr>
          <p:cNvSpPr/>
          <p:nvPr/>
        </p:nvSpPr>
        <p:spPr>
          <a:xfrm>
            <a:off x="5990733" y="207335"/>
            <a:ext cx="6201269" cy="3064282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</p:txBody>
      </p:sp>
      <p:sp>
        <p:nvSpPr>
          <p:cNvPr id="7" name="Google Shape;202;p31">
            <a:extLst>
              <a:ext uri="{FF2B5EF4-FFF2-40B4-BE49-F238E27FC236}">
                <a16:creationId xmlns:a16="http://schemas.microsoft.com/office/drawing/2014/main" id="{6F20907B-4DD9-B587-6087-8D5D68DCED13}"/>
              </a:ext>
            </a:extLst>
          </p:cNvPr>
          <p:cNvSpPr/>
          <p:nvPr/>
        </p:nvSpPr>
        <p:spPr>
          <a:xfrm rot="10800000" flipH="1">
            <a:off x="5990733" y="0"/>
            <a:ext cx="6201267" cy="207300"/>
          </a:xfrm>
          <a:prstGeom prst="rect">
            <a:avLst/>
          </a:prstGeom>
          <a:solidFill>
            <a:srgbClr val="50C5F2">
              <a:alpha val="617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17D50-762E-D2C7-A7D9-7412577A6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779" y="1455663"/>
            <a:ext cx="1215323" cy="12153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Testing Generic color lineal-color icon ...">
            <a:extLst>
              <a:ext uri="{FF2B5EF4-FFF2-40B4-BE49-F238E27FC236}">
                <a16:creationId xmlns:a16="http://schemas.microsoft.com/office/drawing/2014/main" id="{3ABD2C52-058A-F696-6EB3-CA9425C50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327" y="4253865"/>
            <a:ext cx="1868915" cy="1868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9200C8-0266-42E0-8CDE-36C38CF1191D}"/>
              </a:ext>
            </a:extLst>
          </p:cNvPr>
          <p:cNvSpPr txBox="1"/>
          <p:nvPr/>
        </p:nvSpPr>
        <p:spPr>
          <a:xfrm>
            <a:off x="5863243" y="723310"/>
            <a:ext cx="6096000" cy="184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Unit tests: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Vitest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+ Testing Library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test:unit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E2E tests: Playwright (</a:t>
            </a:r>
            <a:r>
              <a:rPr lang="en-US" sz="1800" dirty="0" err="1">
                <a:solidFill>
                  <a:schemeClr val="bg1"/>
                </a:solidFill>
                <a:latin typeface="Avenir Heavy" panose="020B0703020203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 run test:e2e)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Heavy" panose="020B0703020203020204" pitchFamily="34" charset="0"/>
              </a:rPr>
              <a:t>Frontend extra quality: accessibility checks (@axe-core/playwright) + visual regression snapshots</a:t>
            </a:r>
          </a:p>
        </p:txBody>
      </p:sp>
      <p:sp>
        <p:nvSpPr>
          <p:cNvPr id="12" name="Google Shape;139;p27">
            <a:extLst>
              <a:ext uri="{FF2B5EF4-FFF2-40B4-BE49-F238E27FC236}">
                <a16:creationId xmlns:a16="http://schemas.microsoft.com/office/drawing/2014/main" id="{981A2174-DB7B-40B0-823D-170D3B8DDED0}"/>
              </a:ext>
            </a:extLst>
          </p:cNvPr>
          <p:cNvSpPr/>
          <p:nvPr/>
        </p:nvSpPr>
        <p:spPr>
          <a:xfrm rot="16200000" flipH="1">
            <a:off x="-249955" y="559150"/>
            <a:ext cx="987588" cy="48768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334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3;p49">
            <a:extLst>
              <a:ext uri="{FF2B5EF4-FFF2-40B4-BE49-F238E27FC236}">
                <a16:creationId xmlns:a16="http://schemas.microsoft.com/office/drawing/2014/main" id="{C316CD6D-D438-D43B-2236-5F6EE365620C}"/>
              </a:ext>
            </a:extLst>
          </p:cNvPr>
          <p:cNvSpPr/>
          <p:nvPr/>
        </p:nvSpPr>
        <p:spPr>
          <a:xfrm>
            <a:off x="6857185" y="1148575"/>
            <a:ext cx="3491104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5;p49">
            <a:extLst>
              <a:ext uri="{FF2B5EF4-FFF2-40B4-BE49-F238E27FC236}">
                <a16:creationId xmlns:a16="http://schemas.microsoft.com/office/drawing/2014/main" id="{EAA42245-F2DB-2F5C-DB93-6D7C148C58D7}"/>
              </a:ext>
            </a:extLst>
          </p:cNvPr>
          <p:cNvSpPr/>
          <p:nvPr/>
        </p:nvSpPr>
        <p:spPr>
          <a:xfrm>
            <a:off x="1160878" y="1148574"/>
            <a:ext cx="3278118" cy="5709425"/>
          </a:xfrm>
          <a:prstGeom prst="rect">
            <a:avLst/>
          </a:prstGeom>
          <a:solidFill>
            <a:srgbClr val="50C5F2">
              <a:alpha val="73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C9FC8-4FFF-AC88-6166-42B60ADC01C2}"/>
              </a:ext>
            </a:extLst>
          </p:cNvPr>
          <p:cNvSpPr txBox="1">
            <a:spLocks/>
          </p:cNvSpPr>
          <p:nvPr/>
        </p:nvSpPr>
        <p:spPr>
          <a:xfrm rot="5400000">
            <a:off x="8695421" y="4380803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Methodology</a:t>
            </a:r>
          </a:p>
        </p:txBody>
      </p:sp>
      <p:sp>
        <p:nvSpPr>
          <p:cNvPr id="10" name="Google Shape;544;p49">
            <a:extLst>
              <a:ext uri="{FF2B5EF4-FFF2-40B4-BE49-F238E27FC236}">
                <a16:creationId xmlns:a16="http://schemas.microsoft.com/office/drawing/2014/main" id="{2A6D0347-30E0-E660-2D0A-61579919D985}"/>
              </a:ext>
            </a:extLst>
          </p:cNvPr>
          <p:cNvSpPr/>
          <p:nvPr/>
        </p:nvSpPr>
        <p:spPr>
          <a:xfrm>
            <a:off x="5446970" y="1379912"/>
            <a:ext cx="2723942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46;p49">
            <a:extLst>
              <a:ext uri="{FF2B5EF4-FFF2-40B4-BE49-F238E27FC236}">
                <a16:creationId xmlns:a16="http://schemas.microsoft.com/office/drawing/2014/main" id="{44A6E657-F55A-D5A2-1685-DFD3467A3729}"/>
              </a:ext>
            </a:extLst>
          </p:cNvPr>
          <p:cNvSpPr/>
          <p:nvPr/>
        </p:nvSpPr>
        <p:spPr>
          <a:xfrm>
            <a:off x="95850" y="1421324"/>
            <a:ext cx="2395797" cy="1165200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97EDB0-DAA8-AF07-960C-BF8CE4B0EA05}"/>
              </a:ext>
            </a:extLst>
          </p:cNvPr>
          <p:cNvSpPr txBox="1">
            <a:spLocks/>
          </p:cNvSpPr>
          <p:nvPr/>
        </p:nvSpPr>
        <p:spPr>
          <a:xfrm>
            <a:off x="7348451" y="3098705"/>
            <a:ext cx="2723942" cy="31366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1900" dirty="0">
                <a:solidFill>
                  <a:schemeClr val="bg1"/>
                </a:solidFill>
                <a:latin typeface="Avenir Heavy" panose="020B0703020203020204" pitchFamily="34" charset="0"/>
              </a:rPr>
              <a:t>Moyenne, erreur quadratique moyenne, variance</a:t>
            </a:r>
          </a:p>
          <a:p>
            <a:pPr>
              <a:lnSpc>
                <a:spcPct val="150000"/>
              </a:lnSpc>
            </a:pPr>
            <a:r>
              <a:rPr lang="fr-FR" sz="1900" dirty="0">
                <a:solidFill>
                  <a:schemeClr val="bg1"/>
                </a:solidFill>
                <a:latin typeface="Avenir Heavy" panose="020B0703020203020204" pitchFamily="34" charset="0"/>
              </a:rPr>
              <a:t>Intervalle RR, durée du complexe QRS</a:t>
            </a:r>
          </a:p>
          <a:p>
            <a:pPr>
              <a:lnSpc>
                <a:spcPct val="150000"/>
              </a:lnSpc>
            </a:pPr>
            <a:r>
              <a:rPr lang="fr-FR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Entropie spectrale</a:t>
            </a:r>
          </a:p>
          <a:p>
            <a:pPr>
              <a:lnSpc>
                <a:spcPct val="150000"/>
              </a:lnSpc>
            </a:pPr>
            <a:r>
              <a:rPr lang="fr-FR" sz="1900" dirty="0">
                <a:solidFill>
                  <a:schemeClr val="bg1"/>
                </a:solidFill>
                <a:latin typeface="Avenir Heavy" panose="020B0703020203020204" pitchFamily="34" charset="0"/>
              </a:rPr>
              <a:t>Distances d'immersion (L2, cosinus)</a:t>
            </a:r>
            <a:endParaRPr lang="en-US" sz="1900" dirty="0">
              <a:solidFill>
                <a:schemeClr val="bg1"/>
              </a:solidFill>
              <a:latin typeface="Avenir Heavy" panose="020B0703020203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94C4BAF-6A69-566D-4468-0B1C7814EB5D}"/>
              </a:ext>
            </a:extLst>
          </p:cNvPr>
          <p:cNvSpPr txBox="1">
            <a:spLocks/>
          </p:cNvSpPr>
          <p:nvPr/>
        </p:nvSpPr>
        <p:spPr>
          <a:xfrm>
            <a:off x="1127627" y="3288312"/>
            <a:ext cx="2912358" cy="1966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ECG-ID dataset (90 subjects, 310 sessions)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Fitbit ECG </a:t>
            </a:r>
            <a:r>
              <a:rPr lang="en-US" sz="1900" dirty="0" err="1">
                <a:solidFill>
                  <a:schemeClr val="bg1"/>
                </a:solidFill>
                <a:latin typeface="Avenir Heavy" panose="020B0703020203020204" pitchFamily="34" charset="0"/>
              </a:rPr>
              <a:t>enregistrements</a:t>
            </a:r>
            <a:r>
              <a:rPr lang="en-US" sz="1900" dirty="0">
                <a:solidFill>
                  <a:schemeClr val="bg1"/>
                </a:solidFill>
                <a:latin typeface="Avenir Heavy" panose="020B0703020203020204" pitchFamily="34" charset="0"/>
              </a:rPr>
              <a:t>              (~30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529" y="1816026"/>
            <a:ext cx="1717487" cy="3574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Acquisition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</a:t>
            </a:r>
            <a:r>
              <a:rPr sz="2000" dirty="0">
                <a:solidFill>
                  <a:schemeClr val="bg1"/>
                </a:solidFill>
                <a:latin typeface="Avenir Heavy" panose="020B0703020203020204" pitchFamily="34" charset="0"/>
              </a:rPr>
              <a:t>: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DB6D0A-9E93-09CC-5B84-68E1EA217B71}"/>
              </a:ext>
            </a:extLst>
          </p:cNvPr>
          <p:cNvSpPr txBox="1">
            <a:spLocks/>
          </p:cNvSpPr>
          <p:nvPr/>
        </p:nvSpPr>
        <p:spPr>
          <a:xfrm>
            <a:off x="5390088" y="1830794"/>
            <a:ext cx="2934194" cy="348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Extraction de </a:t>
            </a:r>
            <a:r>
              <a:rPr lang="en-US" sz="2000" dirty="0" err="1">
                <a:solidFill>
                  <a:schemeClr val="bg1"/>
                </a:solidFill>
                <a:latin typeface="Avenir Heavy" panose="020B0703020203020204" pitchFamily="34" charset="0"/>
              </a:rPr>
              <a:t>fonctionnalités</a:t>
            </a:r>
            <a:r>
              <a:rPr lang="en-US" sz="2000" dirty="0">
                <a:solidFill>
                  <a:schemeClr val="bg1"/>
                </a:solidFill>
                <a:latin typeface="Avenir Heavy" panose="020B0703020203020204" pitchFamily="34" charset="0"/>
              </a:rPr>
              <a:t> :</a:t>
            </a:r>
          </a:p>
        </p:txBody>
      </p:sp>
      <p:sp>
        <p:nvSpPr>
          <p:cNvPr id="15" name="Google Shape;546;p49">
            <a:extLst>
              <a:ext uri="{FF2B5EF4-FFF2-40B4-BE49-F238E27FC236}">
                <a16:creationId xmlns:a16="http://schemas.microsoft.com/office/drawing/2014/main" id="{591D56B9-EAB8-458A-B780-CD4C76FA187F}"/>
              </a:ext>
            </a:extLst>
          </p:cNvPr>
          <p:cNvSpPr/>
          <p:nvPr/>
        </p:nvSpPr>
        <p:spPr>
          <a:xfrm>
            <a:off x="11094720" y="-16625"/>
            <a:ext cx="1097280" cy="9199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7;p32">
            <a:extLst>
              <a:ext uri="{FF2B5EF4-FFF2-40B4-BE49-F238E27FC236}">
                <a16:creationId xmlns:a16="http://schemas.microsoft.com/office/drawing/2014/main" id="{6923C51C-97D4-13E7-D3EF-5831EECE6654}"/>
              </a:ext>
            </a:extLst>
          </p:cNvPr>
          <p:cNvSpPr/>
          <p:nvPr/>
        </p:nvSpPr>
        <p:spPr>
          <a:xfrm rot="16200000">
            <a:off x="5004557" y="-4309354"/>
            <a:ext cx="1057500" cy="1021911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Architecture </a:t>
            </a:r>
            <a:r>
              <a:rPr lang="en-US" dirty="0" err="1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d'apprentissage</a:t>
            </a:r>
            <a:r>
              <a:rPr lang="en-US"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automatique</a:t>
            </a:r>
            <a:endParaRPr dirty="0">
              <a:solidFill>
                <a:schemeClr val="bg1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Avenir Heavy" panose="020B0703020203020204" pitchFamily="34" charset="0"/>
              </a:rPr>
              <a:t>Two‑Stage Model:</a:t>
            </a:r>
            <a:endParaRPr lang="en-US" sz="2000" dirty="0">
              <a:latin typeface="Avenir Heavy" panose="020B0703020203020204" pitchFamily="34" charset="0"/>
            </a:endParaRPr>
          </a:p>
          <a:p>
            <a:pPr marL="0" indent="0">
              <a:buNone/>
            </a:pPr>
            <a:endParaRPr sz="2000" dirty="0">
              <a:latin typeface="Avenir Heavy" panose="020B07030202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1800" dirty="0" err="1">
                <a:latin typeface="Avenir" panose="020B0503020203020204" pitchFamily="34" charset="0"/>
              </a:rPr>
              <a:t>LightGBM</a:t>
            </a:r>
            <a:r>
              <a:rPr sz="1800" dirty="0">
                <a:latin typeface="Avenir" panose="020B0503020203020204" pitchFamily="34" charset="0"/>
              </a:rPr>
              <a:t> classifier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64 </a:t>
            </a:r>
            <a:r>
              <a:rPr lang="en-US" sz="1600" dirty="0" err="1">
                <a:latin typeface="Avenir Light" panose="020B0402020203020204" pitchFamily="34" charset="0"/>
              </a:rPr>
              <a:t>feuilles</a:t>
            </a:r>
            <a:endParaRPr sz="1600" dirty="0">
              <a:latin typeface="Avenir Light" panose="020B0402020203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sz="1600" dirty="0">
                <a:latin typeface="Avenir Light" panose="020B0402020203020204" pitchFamily="34" charset="0"/>
              </a:rPr>
              <a:t>500 iterations</a:t>
            </a:r>
            <a:endParaRPr lang="en-US" sz="1600" dirty="0">
              <a:latin typeface="Avenir Light" panose="020B0402020203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venir Light" panose="020B0402020203020204" pitchFamily="34" charset="0"/>
              </a:rPr>
              <a:t>Taux</a:t>
            </a:r>
            <a:r>
              <a:rPr lang="en-US" sz="1600" dirty="0">
                <a:latin typeface="Avenir Light" panose="020B0402020203020204" pitchFamily="34" charset="0"/>
              </a:rPr>
              <a:t> </a:t>
            </a:r>
            <a:r>
              <a:rPr lang="en-US" sz="1600" dirty="0" err="1">
                <a:latin typeface="Avenir Light" panose="020B0402020203020204" pitchFamily="34" charset="0"/>
              </a:rPr>
              <a:t>d'apprentissage</a:t>
            </a:r>
            <a:r>
              <a:rPr lang="en-US" sz="1600" dirty="0">
                <a:latin typeface="Avenir Light" panose="020B0402020203020204" pitchFamily="34" charset="0"/>
              </a:rPr>
              <a:t> </a:t>
            </a:r>
            <a:r>
              <a:rPr sz="1600" dirty="0">
                <a:latin typeface="Avenir Light" panose="020B0402020203020204" pitchFamily="34" charset="0"/>
              </a:rPr>
              <a:t>0.05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sz="1800" dirty="0">
                <a:latin typeface="Avenir Medium" panose="02000603020000020003" pitchFamily="2" charset="0"/>
              </a:rPr>
              <a:t>Logistic Calibration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>
                <a:latin typeface="Avenir Light" panose="020B0402020203020204" pitchFamily="34" charset="0"/>
              </a:rPr>
              <a:t>Ajuste la probabilité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 err="1">
                <a:latin typeface="Avenir Light" panose="020B0402020203020204" pitchFamily="34" charset="0"/>
              </a:rPr>
              <a:t>Intégre</a:t>
            </a:r>
            <a:r>
              <a:rPr lang="fr-FR" sz="1600" dirty="0">
                <a:latin typeface="Avenir Light" panose="020B0402020203020204" pitchFamily="34" charset="0"/>
              </a:rPr>
              <a:t> la qualité du signal</a:t>
            </a:r>
            <a:endParaRPr sz="1600" dirty="0">
              <a:latin typeface="Avenir Light" panose="020B0402020203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2AE689-372D-CBB6-9F98-C218959D5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2466" y="2859579"/>
            <a:ext cx="7110895" cy="1257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6;p33">
            <a:extLst>
              <a:ext uri="{FF2B5EF4-FFF2-40B4-BE49-F238E27FC236}">
                <a16:creationId xmlns:a16="http://schemas.microsoft.com/office/drawing/2014/main" id="{26987F37-47F1-ECE7-80B2-747B768E7045}"/>
              </a:ext>
            </a:extLst>
          </p:cNvPr>
          <p:cNvSpPr/>
          <p:nvPr/>
        </p:nvSpPr>
        <p:spPr>
          <a:xfrm rot="16200000">
            <a:off x="4186517" y="-568514"/>
            <a:ext cx="3700020" cy="11091746"/>
          </a:xfrm>
          <a:prstGeom prst="rect">
            <a:avLst/>
          </a:prstGeom>
          <a:gradFill>
            <a:gsLst>
              <a:gs pos="0">
                <a:srgbClr val="CCEEFB"/>
              </a:gs>
              <a:gs pos="50000">
                <a:srgbClr val="68CDF4"/>
              </a:gs>
              <a:gs pos="100000">
                <a:srgbClr val="50C5F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6679" y="4166134"/>
            <a:ext cx="3223728" cy="196395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2000" dirty="0">
                <a:solidFill>
                  <a:schemeClr val="bg1"/>
                </a:solidFill>
                <a:latin typeface="Avenir Medium" panose="02000603020000020003" pitchFamily="2" charset="0"/>
              </a:rPr>
              <a:t>Performance: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Accuracy ≈ 0.93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F1-score ≈ 0.934</a:t>
            </a:r>
          </a:p>
          <a:p>
            <a:pPr lvl="1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bg1"/>
                </a:solidFill>
                <a:latin typeface="Avenir Light" panose="020B0402020203020204" pitchFamily="34" charset="0"/>
              </a:rPr>
              <a:t>ROC AUC ≈ 0.996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F4D220-D482-4A30-80DA-DB61151DAD9D}"/>
              </a:ext>
            </a:extLst>
          </p:cNvPr>
          <p:cNvSpPr txBox="1">
            <a:spLocks/>
          </p:cNvSpPr>
          <p:nvPr/>
        </p:nvSpPr>
        <p:spPr>
          <a:xfrm>
            <a:off x="1261171" y="4196036"/>
            <a:ext cx="3297045" cy="207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US" sz="2000" dirty="0">
                <a:solidFill>
                  <a:schemeClr val="bg1"/>
                </a:solidFill>
                <a:latin typeface="Avenir Medium" panose="02000603020000020003" pitchFamily="2" charset="0"/>
              </a:rPr>
              <a:t>Dataset: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90 subjects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310 sessions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Light" panose="020B0402020203020204" pitchFamily="34" charset="0"/>
              </a:rPr>
              <a:t>60/40 train-test split</a:t>
            </a:r>
            <a:endParaRPr lang="en-US" sz="1600" dirty="0">
              <a:solidFill>
                <a:schemeClr val="bg1"/>
              </a:solidFill>
              <a:latin typeface="Avenir Light" panose="020B040202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09" y="3380500"/>
            <a:ext cx="9924581" cy="558994"/>
          </a:xfrm>
        </p:spPr>
        <p:txBody>
          <a:bodyPr>
            <a:normAutofit fontScale="90000"/>
          </a:bodyPr>
          <a:lstStyle/>
          <a:p>
            <a:pPr algn="l"/>
            <a:r>
              <a:rPr sz="3200" dirty="0" err="1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Result</a:t>
            </a:r>
            <a:r>
              <a:rPr lang="en-US" sz="3200" dirty="0" err="1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ats</a:t>
            </a:r>
            <a:r>
              <a:rPr sz="3200" dirty="0">
                <a:solidFill>
                  <a:schemeClr val="bg1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venir Black" panose="020B0803020203020204" pitchFamily="34" charset="0"/>
              </a:rPr>
              <a:t> (ECG-ID Benchmark)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C281F-723D-A424-9106-3C8B9A46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764" y="121920"/>
            <a:ext cx="4902795" cy="2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64AF8-F077-DA63-7464-83DCEF98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1682"/>
            <a:ext cx="3236422" cy="3142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033" y="1197006"/>
            <a:ext cx="10972800" cy="2559204"/>
          </a:xfrm>
        </p:spPr>
        <p:txBody>
          <a:bodyPr>
            <a:normAutofit lnSpcReduction="10000"/>
          </a:bodyPr>
          <a:lstStyle/>
          <a:p>
            <a:r>
              <a:rPr lang="fr-FR" sz="2000" dirty="0">
                <a:latin typeface="Avenir" panose="020B0503020203020204" pitchFamily="34" charset="0"/>
              </a:rPr>
              <a:t>Comparaison des ensembles de données ECG-ID </a:t>
            </a:r>
            <a:r>
              <a:rPr sz="2000" dirty="0">
                <a:latin typeface="Avenir" panose="020B0503020203020204" pitchFamily="34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Safie et al. 2024 (CNN)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0.84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>
                <a:latin typeface="Avenir Light" panose="020B0402020203020204" pitchFamily="34" charset="0"/>
              </a:rPr>
              <a:t>Méthode</a:t>
            </a:r>
            <a:r>
              <a:rPr lang="en-US" sz="1800" dirty="0">
                <a:latin typeface="Avenir Light" panose="020B0402020203020204" pitchFamily="34" charset="0"/>
              </a:rPr>
              <a:t> propose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800" dirty="0">
                <a:latin typeface="Avenir Light" panose="020B0402020203020204" pitchFamily="34" charset="0"/>
              </a:rPr>
              <a:t>AUC ≈ 0.996</a:t>
            </a:r>
          </a:p>
          <a:p>
            <a:pPr marL="0" indent="0">
              <a:buNone/>
            </a:pPr>
            <a:endParaRPr sz="2000" dirty="0">
              <a:latin typeface="Avenir" panose="020B0503020203020204" pitchFamily="34" charset="0"/>
            </a:endParaRPr>
          </a:p>
          <a:p>
            <a:r>
              <a:rPr lang="fr-FR" sz="2000" dirty="0">
                <a:latin typeface="Avenir" panose="020B0503020203020204" pitchFamily="34" charset="0"/>
              </a:rPr>
              <a:t>Amélioration grâce à la vérification par paires, à l'ingénierie des caractéristiques et à l'étalonnage</a:t>
            </a:r>
            <a:endParaRPr sz="2000" dirty="0">
              <a:latin typeface="Avenir" panose="020B0503020203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BD18E0-F58C-5969-31E3-F6A0D569C15C}"/>
              </a:ext>
            </a:extLst>
          </p:cNvPr>
          <p:cNvSpPr txBox="1">
            <a:spLocks/>
          </p:cNvSpPr>
          <p:nvPr/>
        </p:nvSpPr>
        <p:spPr>
          <a:xfrm rot="5400000">
            <a:off x="8646779" y="3914891"/>
            <a:ext cx="6126165" cy="548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Comparaison</a:t>
            </a:r>
            <a:r>
              <a:rPr lang="en-US" sz="32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 avec la </a:t>
            </a:r>
            <a:r>
              <a:rPr lang="en-US" sz="3200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littérature</a:t>
            </a:r>
            <a:endParaRPr lang="en-US" sz="3200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8" name="Google Shape;179;p30">
            <a:extLst>
              <a:ext uri="{FF2B5EF4-FFF2-40B4-BE49-F238E27FC236}">
                <a16:creationId xmlns:a16="http://schemas.microsoft.com/office/drawing/2014/main" id="{19C75744-059F-4479-D2AF-B1F7776D73E6}"/>
              </a:ext>
            </a:extLst>
          </p:cNvPr>
          <p:cNvSpPr/>
          <p:nvPr/>
        </p:nvSpPr>
        <p:spPr>
          <a:xfrm>
            <a:off x="0" y="5054137"/>
            <a:ext cx="2837411" cy="1803863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9;p30">
            <a:extLst>
              <a:ext uri="{FF2B5EF4-FFF2-40B4-BE49-F238E27FC236}">
                <a16:creationId xmlns:a16="http://schemas.microsoft.com/office/drawing/2014/main" id="{9E747DB6-B1E5-434A-9D2E-1A25D418273E}"/>
              </a:ext>
            </a:extLst>
          </p:cNvPr>
          <p:cNvSpPr/>
          <p:nvPr/>
        </p:nvSpPr>
        <p:spPr>
          <a:xfrm>
            <a:off x="11227724" y="0"/>
            <a:ext cx="964276" cy="9255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069" y="598125"/>
            <a:ext cx="4453054" cy="1143000"/>
          </a:xfrm>
        </p:spPr>
        <p:txBody>
          <a:bodyPr>
            <a:normAutofit/>
          </a:bodyPr>
          <a:lstStyle/>
          <a:p>
            <a:pPr algn="l"/>
            <a:r>
              <a:rPr lang="en-US" sz="3100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Mécanisme</a:t>
            </a:r>
            <a:r>
              <a:rPr lang="en-US" sz="3100" dirty="0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 </a:t>
            </a:r>
            <a:r>
              <a:rPr lang="en-US" sz="3100" dirty="0" err="1">
                <a:ln>
                  <a:solidFill>
                    <a:srgbClr val="0070C0"/>
                  </a:solidFill>
                </a:ln>
                <a:solidFill>
                  <a:srgbClr val="002060"/>
                </a:solidFill>
                <a:latin typeface="Avenir Black" panose="020B0803020203020204" pitchFamily="34" charset="0"/>
              </a:rPr>
              <a:t>adaptatif</a:t>
            </a:r>
            <a:endParaRPr sz="3100" dirty="0">
              <a:ln>
                <a:solidFill>
                  <a:srgbClr val="0070C0"/>
                </a:solidFill>
              </a:ln>
              <a:solidFill>
                <a:srgbClr val="002060"/>
              </a:solidFill>
              <a:latin typeface="Avenir Black" panose="020B080302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34650"/>
            <a:ext cx="5486400" cy="25529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venir" panose="020B0503020203020204" pitchFamily="34" charset="0"/>
              </a:rPr>
              <a:t>Le </a:t>
            </a:r>
            <a:r>
              <a:rPr lang="en-US" sz="2000" dirty="0" err="1">
                <a:latin typeface="Avenir" panose="020B0503020203020204" pitchFamily="34" charset="0"/>
              </a:rPr>
              <a:t>système</a:t>
            </a:r>
            <a:r>
              <a:rPr lang="en-US" sz="2000" dirty="0">
                <a:latin typeface="Avenir" panose="020B0503020203020204" pitchFamily="34" charset="0"/>
              </a:rPr>
              <a:t> </a:t>
            </a:r>
            <a:r>
              <a:rPr lang="en-US" sz="2000" dirty="0" err="1">
                <a:latin typeface="Avenir" panose="020B0503020203020204" pitchFamily="34" charset="0"/>
              </a:rPr>
              <a:t>comprend</a:t>
            </a:r>
            <a:r>
              <a:rPr lang="en-US" sz="2000" dirty="0">
                <a:latin typeface="Avenir" panose="020B0503020203020204" pitchFamily="34" charset="0"/>
              </a:rPr>
              <a:t> </a:t>
            </a:r>
            <a:r>
              <a:rPr sz="2000" dirty="0">
                <a:latin typeface="Avenir" panose="020B0503020203020204" pitchFamily="34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Avenir Light" panose="020B0402020203020204" pitchFamily="34" charset="0"/>
              </a:rPr>
              <a:t>Surveillance continue des scores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>
                <a:latin typeface="Avenir Light" panose="020B0402020203020204" pitchFamily="34" charset="0"/>
              </a:rPr>
              <a:t>Détection</a:t>
            </a:r>
            <a:r>
              <a:rPr lang="en-US" sz="1800" dirty="0">
                <a:latin typeface="Avenir Light" panose="020B0402020203020204" pitchFamily="34" charset="0"/>
              </a:rPr>
              <a:t> de derive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Avenir Light" panose="020B0402020203020204" pitchFamily="34" charset="0"/>
              </a:rPr>
              <a:t>Reconversion </a:t>
            </a:r>
            <a:r>
              <a:rPr lang="en-US" sz="1800" dirty="0" err="1">
                <a:latin typeface="Avenir Light" panose="020B0402020203020204" pitchFamily="34" charset="0"/>
              </a:rPr>
              <a:t>automatique</a:t>
            </a:r>
            <a:endParaRPr lang="en-US" sz="1800" dirty="0">
              <a:latin typeface="Avenir Light" panose="020B0402020203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800" dirty="0">
                <a:latin typeface="Avenir Light" panose="020B0402020203020204" pitchFamily="34" charset="0"/>
              </a:rPr>
              <a:t>Modélisation de la confiance à long terme</a:t>
            </a:r>
          </a:p>
          <a:p>
            <a:pPr lvl="1">
              <a:buFont typeface="Arial" panose="020B0604020202020204" pitchFamily="34" charset="0"/>
              <a:buChar char="•"/>
            </a:pPr>
            <a:endParaRPr sz="1800" dirty="0">
              <a:latin typeface="Avenir Light" panose="020B0402020203020204" pitchFamily="34" charset="0"/>
            </a:endParaRPr>
          </a:p>
          <a:p>
            <a:pPr marL="0" indent="0">
              <a:buNone/>
            </a:pPr>
            <a:r>
              <a:rPr lang="fr-FR" sz="2000" dirty="0">
                <a:latin typeface="Avenir" panose="020B0503020203020204" pitchFamily="34" charset="0"/>
              </a:rPr>
              <a:t>Garantit une authentification stable dans le temps</a:t>
            </a:r>
            <a:endParaRPr sz="2000" dirty="0">
              <a:latin typeface="Avenir" panose="020B0503020203020204" pitchFamily="34" charset="0"/>
            </a:endParaRPr>
          </a:p>
        </p:txBody>
      </p:sp>
      <p:sp>
        <p:nvSpPr>
          <p:cNvPr id="5" name="Google Shape;171;p29">
            <a:extLst>
              <a:ext uri="{FF2B5EF4-FFF2-40B4-BE49-F238E27FC236}">
                <a16:creationId xmlns:a16="http://schemas.microsoft.com/office/drawing/2014/main" id="{98B9F3E0-64B0-6E8C-9CB1-3FABABD46322}"/>
              </a:ext>
            </a:extLst>
          </p:cNvPr>
          <p:cNvSpPr/>
          <p:nvPr/>
        </p:nvSpPr>
        <p:spPr>
          <a:xfrm>
            <a:off x="0" y="2211185"/>
            <a:ext cx="362100" cy="297595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39;p27">
            <a:extLst>
              <a:ext uri="{FF2B5EF4-FFF2-40B4-BE49-F238E27FC236}">
                <a16:creationId xmlns:a16="http://schemas.microsoft.com/office/drawing/2014/main" id="{63412F74-7DF5-4406-B5E0-8E859676F03B}"/>
              </a:ext>
            </a:extLst>
          </p:cNvPr>
          <p:cNvSpPr/>
          <p:nvPr/>
        </p:nvSpPr>
        <p:spPr>
          <a:xfrm rot="16200000" flipH="1">
            <a:off x="-193964" y="803563"/>
            <a:ext cx="997527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9;p27">
            <a:extLst>
              <a:ext uri="{FF2B5EF4-FFF2-40B4-BE49-F238E27FC236}">
                <a16:creationId xmlns:a16="http://schemas.microsoft.com/office/drawing/2014/main" id="{42B7BDB4-3FCD-41EA-AB3D-89B7376376FD}"/>
              </a:ext>
            </a:extLst>
          </p:cNvPr>
          <p:cNvSpPr/>
          <p:nvPr/>
        </p:nvSpPr>
        <p:spPr>
          <a:xfrm rot="16200000" flipH="1">
            <a:off x="9468198" y="102528"/>
            <a:ext cx="2826328" cy="26212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7;p29">
            <a:extLst>
              <a:ext uri="{FF2B5EF4-FFF2-40B4-BE49-F238E27FC236}">
                <a16:creationId xmlns:a16="http://schemas.microsoft.com/office/drawing/2014/main" id="{58E5EE7F-2E60-B745-4A90-5180EF1490DD}"/>
              </a:ext>
            </a:extLst>
          </p:cNvPr>
          <p:cNvSpPr/>
          <p:nvPr/>
        </p:nvSpPr>
        <p:spPr>
          <a:xfrm>
            <a:off x="8544969" y="944883"/>
            <a:ext cx="2621277" cy="2826327"/>
          </a:xfrm>
          <a:prstGeom prst="rect">
            <a:avLst/>
          </a:prstGeom>
          <a:solidFill>
            <a:srgbClr val="50C5F2">
              <a:alpha val="5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223" y="2410116"/>
            <a:ext cx="8917259" cy="23437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Les signaux ECG constituent une modalité biométrique hautement discriminante.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L'évaluation comparative sur ECG-ID démontre d'excellentes performances (AUC ≈ 0,996).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Ce cadre a été étendu aux dispositifs ECG portables </a:t>
            </a:r>
            <a:r>
              <a:rPr lang="fr-FR" sz="2000" dirty="0" err="1">
                <a:latin typeface="Avenir Light" panose="020B0402020203020204" pitchFamily="34" charset="0"/>
              </a:rPr>
              <a:t>Fitbit</a:t>
            </a:r>
            <a:r>
              <a:rPr lang="fr-FR" sz="2000" dirty="0">
                <a:latin typeface="Avenir Light" panose="020B0402020203020204" pitchFamily="34" charset="0"/>
              </a:rPr>
              <a:t>.</a:t>
            </a:r>
          </a:p>
          <a:p>
            <a:pPr>
              <a:lnSpc>
                <a:spcPct val="150000"/>
              </a:lnSpc>
              <a:buClr>
                <a:srgbClr val="50C5F2"/>
              </a:buClr>
            </a:pPr>
            <a:r>
              <a:rPr lang="fr-FR" sz="2000" dirty="0">
                <a:latin typeface="Avenir Light" panose="020B0402020203020204" pitchFamily="34" charset="0"/>
              </a:rPr>
              <a:t>Le réentraînement adaptatif permet une authentification biométrique à long terme.</a:t>
            </a:r>
            <a:endParaRPr sz="2000" dirty="0">
              <a:latin typeface="Avenir Light" panose="020B0402020203020204" pitchFamily="34" charset="0"/>
            </a:endParaRPr>
          </a:p>
        </p:txBody>
      </p:sp>
      <p:sp>
        <p:nvSpPr>
          <p:cNvPr id="5" name="Google Shape;139;p27">
            <a:extLst>
              <a:ext uri="{FF2B5EF4-FFF2-40B4-BE49-F238E27FC236}">
                <a16:creationId xmlns:a16="http://schemas.microsoft.com/office/drawing/2014/main" id="{269CFF24-0757-40F9-A312-18338D7F5E69}"/>
              </a:ext>
            </a:extLst>
          </p:cNvPr>
          <p:cNvSpPr/>
          <p:nvPr/>
        </p:nvSpPr>
        <p:spPr>
          <a:xfrm rot="16200000" flipH="1">
            <a:off x="1748636" y="-1778915"/>
            <a:ext cx="1196828" cy="47269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70F84EF7-391B-618D-B020-665174442089}"/>
              </a:ext>
            </a:extLst>
          </p:cNvPr>
          <p:cNvSpPr/>
          <p:nvPr/>
        </p:nvSpPr>
        <p:spPr>
          <a:xfrm rot="5400000">
            <a:off x="-1630946" y="2488727"/>
            <a:ext cx="5251441" cy="1443147"/>
          </a:xfrm>
          <a:prstGeom prst="rect">
            <a:avLst/>
          </a:prstGeom>
          <a:solidFill>
            <a:srgbClr val="50C5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DE991F-7807-45B4-BAC7-58618D07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067319" y="3470817"/>
            <a:ext cx="4009689" cy="1143000"/>
          </a:xfrm>
        </p:spPr>
        <p:txBody>
          <a:bodyPr>
            <a:normAutofit/>
          </a:bodyPr>
          <a:lstStyle/>
          <a:p>
            <a:pPr algn="r"/>
            <a:r>
              <a:rPr sz="4000" dirty="0">
                <a:solidFill>
                  <a:schemeClr val="bg1"/>
                </a:solidFill>
                <a:latin typeface="Avenir Black" panose="020B0803020203020204" pitchFamily="34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707</Words>
  <Application>Microsoft Office PowerPoint</Application>
  <PresentationFormat>Widescreen</PresentationFormat>
  <Paragraphs>102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Avenir</vt:lpstr>
      <vt:lpstr>Avenir Black</vt:lpstr>
      <vt:lpstr>Avenir Heavy</vt:lpstr>
      <vt:lpstr>Avenir Light</vt:lpstr>
      <vt:lpstr>Avenir Medium</vt:lpstr>
      <vt:lpstr>Calibri</vt:lpstr>
      <vt:lpstr>Office Theme</vt:lpstr>
      <vt:lpstr>Adaptive  ECG-Based Biometric Authentication</vt:lpstr>
      <vt:lpstr>Contexte et problème</vt:lpstr>
      <vt:lpstr>Objectifs et défis de la recherche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d'apprentissage automatique</vt:lpstr>
      <vt:lpstr>Resultats (ECG-ID Benchmark)</vt:lpstr>
      <vt:lpstr>PowerPoint Presentation</vt:lpstr>
      <vt:lpstr>Mécanisme adaptatif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 ECG-Based Biometric Authentication</dc:title>
  <dc:subject/>
  <dc:creator>Maria EL Ashkar</dc:creator>
  <cp:keywords/>
  <dc:description>generated using python-pptx</dc:description>
  <cp:lastModifiedBy>Michel RIZKALLAH</cp:lastModifiedBy>
  <cp:revision>30</cp:revision>
  <dcterms:created xsi:type="dcterms:W3CDTF">2013-01-27T09:14:16Z</dcterms:created>
  <dcterms:modified xsi:type="dcterms:W3CDTF">2026-05-27T23:24:58Z</dcterms:modified>
  <cp:category/>
</cp:coreProperties>
</file>